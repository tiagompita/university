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Barlow Condensed"/>
      <p:regular r:id="rId33"/>
      <p:bold r:id="rId34"/>
      <p:italic r:id="rId35"/>
      <p:boldItalic r:id="rId36"/>
    </p:embeddedFont>
    <p:embeddedFont>
      <p:font typeface="Libre Baskerville"/>
      <p:regular r:id="rId37"/>
      <p:bold r:id="rId38"/>
      <p:italic r:id="rId39"/>
      <p:boldItalic r:id="rId40"/>
    </p:embeddedFont>
    <p:embeddedFont>
      <p:font typeface="Signika Negative"/>
      <p:regular r:id="rId41"/>
      <p:bold r:id="rId42"/>
    </p:embeddedFont>
    <p:embeddedFont>
      <p:font typeface="Lexend"/>
      <p:regular r:id="rId43"/>
      <p:bold r:id="rId44"/>
    </p:embeddedFont>
    <p:embeddedFont>
      <p:font typeface="Merriweather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2878">
          <p15:clr>
            <a:srgbClr val="747775"/>
          </p15:clr>
        </p15:guide>
        <p15:guide id="4" orient="horz" pos="638">
          <p15:clr>
            <a:srgbClr val="747775"/>
          </p15:clr>
        </p15:guide>
        <p15:guide id="5" pos="196">
          <p15:clr>
            <a:srgbClr val="747775"/>
          </p15:clr>
        </p15:guide>
        <p15:guide id="6" pos="5564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rtin Pereirinh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A5D8C9-A6B0-43F7-8554-0CB34268EF17}">
  <a:tblStyle styleId="{D3A5D8C9-A6B0-43F7-8554-0CB34268EF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78" orient="horz"/>
        <p:guide pos="638" orient="horz"/>
        <p:guide pos="196"/>
        <p:guide pos="55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boldItalic.fntdata"/><Relationship Id="rId20" Type="http://schemas.openxmlformats.org/officeDocument/2006/relationships/slide" Target="slides/slide13.xml"/><Relationship Id="rId42" Type="http://schemas.openxmlformats.org/officeDocument/2006/relationships/font" Target="fonts/SignikaNegative-bold.fntdata"/><Relationship Id="rId41" Type="http://schemas.openxmlformats.org/officeDocument/2006/relationships/font" Target="fonts/SignikaNegative-regular.fntdata"/><Relationship Id="rId22" Type="http://schemas.openxmlformats.org/officeDocument/2006/relationships/slide" Target="slides/slide15.xml"/><Relationship Id="rId44" Type="http://schemas.openxmlformats.org/officeDocument/2006/relationships/font" Target="fonts/Lexend-bold.fntdata"/><Relationship Id="rId21" Type="http://schemas.openxmlformats.org/officeDocument/2006/relationships/slide" Target="slides/slide14.xml"/><Relationship Id="rId43" Type="http://schemas.openxmlformats.org/officeDocument/2006/relationships/font" Target="fonts/Lexend-regular.fntdata"/><Relationship Id="rId24" Type="http://schemas.openxmlformats.org/officeDocument/2006/relationships/slide" Target="slides/slide17.xml"/><Relationship Id="rId46" Type="http://schemas.openxmlformats.org/officeDocument/2006/relationships/font" Target="fonts/Merriweather-bold.fntdata"/><Relationship Id="rId23" Type="http://schemas.openxmlformats.org/officeDocument/2006/relationships/slide" Target="slides/slide16.xml"/><Relationship Id="rId45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Merriweather-boldItalic.fntdata"/><Relationship Id="rId25" Type="http://schemas.openxmlformats.org/officeDocument/2006/relationships/slide" Target="slides/slide18.xml"/><Relationship Id="rId47" Type="http://schemas.openxmlformats.org/officeDocument/2006/relationships/font" Target="fonts/Merriweather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BarlowCondensed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BarlowCondensed-italic.fntdata"/><Relationship Id="rId12" Type="http://schemas.openxmlformats.org/officeDocument/2006/relationships/slide" Target="slides/slide5.xml"/><Relationship Id="rId34" Type="http://schemas.openxmlformats.org/officeDocument/2006/relationships/font" Target="fonts/BarlowCondensed-bold.fntdata"/><Relationship Id="rId15" Type="http://schemas.openxmlformats.org/officeDocument/2006/relationships/slide" Target="slides/slide8.xml"/><Relationship Id="rId37" Type="http://schemas.openxmlformats.org/officeDocument/2006/relationships/font" Target="fonts/LibreBaskerville-regular.fntdata"/><Relationship Id="rId14" Type="http://schemas.openxmlformats.org/officeDocument/2006/relationships/slide" Target="slides/slide7.xml"/><Relationship Id="rId36" Type="http://schemas.openxmlformats.org/officeDocument/2006/relationships/font" Target="fonts/BarlowCondensed-boldItalic.fntdata"/><Relationship Id="rId17" Type="http://schemas.openxmlformats.org/officeDocument/2006/relationships/slide" Target="slides/slide10.xml"/><Relationship Id="rId39" Type="http://schemas.openxmlformats.org/officeDocument/2006/relationships/font" Target="fonts/LibreBaskerville-italic.fntdata"/><Relationship Id="rId16" Type="http://schemas.openxmlformats.org/officeDocument/2006/relationships/slide" Target="slides/slide9.xml"/><Relationship Id="rId38" Type="http://schemas.openxmlformats.org/officeDocument/2006/relationships/font" Target="fonts/LibreBaskerville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12T10:33:45.783">
    <p:pos x="1946" y="2301"/>
    <p:text>import matplotlib.pyplot as plt
import numpy as np
from matplotlib.widgets import Slider
# 1. Physics Function
def coil_B_field(x, x0, R, I):
mu0 = 4 * np.pi * 10**-7
numerator = mu0 * I * (R**2)
denominator = 2 * ((R**2) + (x - x0)**2)**(1.5)
return numerator / denominator
# 2. Setup Initial Data
R = 1.0
I = 1.0
x = np.linspace(-4, 4, 1000)
d_init = 1.0 # Start at d = R (Helmholtz)
# 3. Create the Plot
fig, ax = plt.subplots(figsize=(10, 7))
plt.subplots_adjust(bottom=0.25) # Make room for the slider at the bottom
# Initial calculation
pos_1, pos_2 = -d_init/2, d_init/2
B1 = coil_B_field(x, pos_1, R, I)
B2 = coil_B_field(x, pos_2, R, I)
B_total = B1 + B2
# Plot lines
line, = ax.plot(x, B_total, lw=2, color='blue', label='Total Field')
# Dotted lines for coil positions
coil_line1 = ax.axvline(pos_1, color='gray', linestyle='--', alpha=0.5, label='Coil Positions')
coil_line2 = ax.axvline(pos_2, color='gray', linestyle='--', alpha=0.5)
# Styling
ax.set_xlim(-4, 4)
ax.set_ylim(0, 1.8e-6) # Fixed y-limit so graph doesn't jump around
ax.set_xlabel('Position (x/R)')
ax.set_ylabel('Magnetic Field (B)')
ax.set_title(f'Interactive Helmholtz Coils\nSeparation d = {d_init:.2f} R')
ax.grid(True)
ax.legend()
# 4. Create the Slider
ax_slider = plt.axes([0.2, 0.1, 0.65, 0.03]) # [left, bottom, width, height]
slider_d = Slider(
ax=ax_slider,
label='Separation (d)',
valmin=0.2,
valmax=3.0,
valinit=d_init,
valstep=0.05
)
# 5. Define Update Function
def update(val):
d = slider_d.val
pos_1, pos_2 = -d/2, d/2
# Recalculate fields
B1 = coil_B_field(x, pos_1, R, I)
B2 = coil_B_field(x, pos_2, R, I)
B_total = B1 + B2
# Update plot data
line.set_ydata(B_total)
coil_line1.set_xdata([pos_1])
coil_line2.set_xdata([pos_2])
# Update title with context
condition = ""
if d &lt; R * 0.95:
condition = "(d &lt; R: Single Peak)"
elif 0.95 &lt;= d &lt;= 1.05:
condition = "(d ≈ R: Helmholtz/Uniform)"
else:
condition = "(d &gt; R: Two Peaks)"
ax.set_title(f'Interactive Helmholtz Coils\nSeparation d = {d:.2f} R {condition}')
fig.canvas.draw_idle()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99a0fb4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99a0fb4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68cc4db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68cc4db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a2a396e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a2a396e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a2a396e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fa2a396e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fa2a396e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fa2a396e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fa2a396e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fa2a396e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fa2a396ed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fa2a396ed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fa2a396e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fa2a396e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99a0fb4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e99a0fb4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Bom dia a todos. Nesta parte da apresentação, vou concentrar a minha análise exclusivamente na Parte A, que diz respeito à Calibração da Sonda de Hall.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passo foi fundamental, pois a sonda de Hall que utilizamos não nos dá o valor do campo magnético em Teslas diretamente; ela devolve-nos um valor de tensão elétrica em Volts. Portanto, o nosso objetivo primordial foi determinar a Constante de Calibração. É esta constante matemática que nos permite converter a leitura elétrica do sensor para a grandeza física real — o Campo Magnético.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e99a0fb4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e99a0fb4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calibrar qualquer sensor, precisamos de um padrão de referência conhecido.Nós utilizámos um solenoide porque, teoricamente, este gera um campo magnético longitudinal e uniforme no seu interior.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podem ver pela equação, o campo magnético do solenoide é calculado através da Lei de Ampère .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Nesta fórmula: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● mi 0 é a permeabilidade magnética do vácuo, uma constante física;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● N / L representa a densidade linear de espiras. No nosso equipamento, este é um valor fixo de 3467 espiras por metro;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● </a:t>
            </a:r>
            <a:r>
              <a:rPr lang="en"/>
              <a:t>I_s é a corrente que nós controlamos.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Isto significa que, se assumirmos a aproximação de um solenoide infinito - onde o comprimento é muito maior que o raio - conseguimos saber exatamente qual o campo magnético presente, apenas medindo a corrente elétrica.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e99a0fb4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e99a0fb4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Sabendo o campo que estamos a gerar, precisamos agora de perceber como a sonda o lê. A sonda baseia-se no Efeito de Hall. O princípio físico, ilustrado no esquema, ocorre quando uma corrente elétrica atravessa um semicondutor imerso num campo magnético.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Aqui entra a física das forças: as portadoras de carga sofrem uma deflexão devido à Força de Lorentz. Esta força desvia as cargas para uma das faces do material, criando um campo elétrico transversal e, consequentemente, uma diferença de potencial a que chamamos Tensão de Hall.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relação fundamental que queremos explorar é a que vemos em baixo. Ou seja, mantendo a corrente constante, a tensão de Hall gerada é linearmente proporcional ao campo magnético externo. O declive dessa relação linear será a nossa constante de calibração.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ac24fdb3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ac24fdb3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Passando à prática, a montagem seguiu rigorosamente o esquema elétrico projetado.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detalhe crucial foi o posicionamento da sonda. O nosso solenoide tinha um comprimento total de 21 cm, logo nós colocámos a sonda exatamente nos 10,5 cm, ou seja, no centro.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Porquê esta precisão? Porque a fórmula da Lei de Ampere assume um solenoide infinito. Nas extremidades do solenoide, as linhas de campo dispersam-se e a fórmula deixa de ser válida. No centro, garantimos que estamos na região de campo mais uniforme possível e minimizamos os efeitos de bordo.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Durante o ensaio, utilizámos um reostato para variar a corrente desde valores muito baixos, cerca de 0,03 Amperes, até aproximadamente 1 Ampere, registando para cada passo a tensão de Hall resultante no voltímetro.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fb907921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fb907921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dados recolhidos permitiram-nos traçar este gráfico.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salta à vista é a excelente qualidade do ajuste linear, Onde obtivemos um coeficiente de 1.0.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interpretação física deste gráfico diz-nos duas coisas importantes: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Primeiro, validámos a equação teórica: a tensão é de facto proporcional à corrente e, consequentemente, ao campo magnético.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Segundo, prova que a sonda operou sempre em regime óhmico e não atingiu a saturação, o que nos dá confiança na qualidade das medições.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fb90792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fb90792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Finalmente, chegamos ao objetivo principal: o cálculo da Constante de Calibração.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Matematicamente, o que fizemos foi igualar as duas equações teóricas: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Igualámos o Campo Magnético medido pela Sonda ao Campo Magnético Teórico do Solenoide.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Isolando a constante, e utilizando a média dos nossos dados experimentais, obtivemos um valor de aproximadamente 0.0288 Tesla por Volt.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Concluimos assim, tendo em conta a incerteza experimental associada, que a sonda ficou efetivamente calibrada. Isto permitiu-nos avançar para a Parte B do trabalho.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e99a0fb4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e99a0fb4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e99a0fb4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e99a0fb4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Dar yap sobre como foi feito em expecifico voltando um slide atraz para moostrar com a imagem: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Medição do campo criado pela bobina 1 , 10 medidas 1cm entre cada medida , bobina fixa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Medição do campo criado pela bobina 2 , 10 medidas 1cm entre cada medida , bobina mexes-se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e99a0fb4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e99a0fb4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Realsar que vai diminuindo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eac24fdb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aeac24fdb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e99a0fb41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e99a0fb4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 yap sobre como foi feito em expecifico voltando um slide atraz para moostrar com am imgem: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2 bobinas em serie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e99a0fb41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e99a0fb41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eac24fdb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eac24fdb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 curva azul representa o campo produzido pela Bobina 1, medida desde o centro dessa bobina até ao ponto intermédio.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 curva vermelha representa o campo produzido pela Bobina 2, começando no lado oposto e aproximando‑se igualmente do centro.</a:t>
            </a:r>
            <a:br>
              <a:rPr lang="en"/>
            </a:br>
            <a:br>
              <a:rPr lang="en"/>
            </a:br>
            <a:r>
              <a:rPr lang="en"/>
              <a:t>Cada uma destas curvas foi obtida a partir das medições da sonda de Hall, já calibrada previamente.</a:t>
            </a:r>
            <a:br>
              <a:rPr lang="en"/>
            </a:br>
            <a:br>
              <a:rPr lang="en"/>
            </a:br>
            <a:r>
              <a:rPr lang="en"/>
              <a:t>Depois, somando ponto a ponto o campo da Bobina 1 com o da Bobina 2, obtemos a curva preta, que corresponde ao valor teórico previsto pela Lei de Biot–Savart e pelo princípio da linearidade do campo magnético.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Os pontos verdes mostram os valores experimentais medidos quando as bobinas foram ligadas em série, produzindo o campo total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Como se pode observar, os pontos experimentais coincidem muito bem com a curva preta, o que confirma de forma clara que o campo resultante é, de facto, a soma dos campos individuais.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Resumo 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azul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vermelha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𝐵 = 𝐶𝑐𝑉𝐻 calculo do campo magnetico | </a:t>
            </a:r>
            <a:r>
              <a:rPr lang="en">
                <a:solidFill>
                  <a:schemeClr val="dk1"/>
                </a:solidFill>
              </a:rPr>
              <a:t>  𝐶𝑐 = 𝜇0 ∗ 𝑁 𝑙 ∗ 𝐼𝑠 /𝑉s , onde 𝜇0 é uma constante , N*l = numero de espiras , Is = 50mV       Vh , as medidas da tabela  obtemos a constante de calibração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vermelha + azul é a preta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Comparar preta (teorica ) com verde (pratica)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fdd2e14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afdd2e14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 curva azul representa o campo produzido pela Bobina 1, medida desde o centro dessa bobina até ao ponto intermédio.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 curva vermelha representa o campo produzido pela Bobina 2, começando no lado oposto e aproximando‑se igualmente do centro.</a:t>
            </a:r>
            <a:br>
              <a:rPr lang="en"/>
            </a:br>
            <a:br>
              <a:rPr lang="en"/>
            </a:br>
            <a:r>
              <a:rPr lang="en"/>
              <a:t>Cada uma destas curvas foi obtida a partir das medições da sonda de Hall, já calibrada previamente.</a:t>
            </a:r>
            <a:br>
              <a:rPr lang="en"/>
            </a:br>
            <a:br>
              <a:rPr lang="en"/>
            </a:br>
            <a:r>
              <a:rPr lang="en"/>
              <a:t>Depois, somando ponto a ponto o campo da Bobina 1 com o da Bobina 2, obtemos a curva preta, que corresponde ao valor teórico previsto pela Lei de Biot–Savart e pelo princípio da linearidade do campo magnético.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Os pontos verdes mostram os valores experimentais medidos quando as bobinas foram ligadas em série, produzindo o campo total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Como se pode observar, os pontos experimentais coincidem muito bem com a curva preta, o que confirma de forma clara que o campo resultante é, de facto, a soma dos campos individuais.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Resumo 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azul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vermelha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𝐵 = 𝐶𝑐𝑉𝐻 calculo do campo magnetico | </a:t>
            </a:r>
            <a:r>
              <a:rPr lang="en">
                <a:solidFill>
                  <a:schemeClr val="dk1"/>
                </a:solidFill>
              </a:rPr>
              <a:t>  𝐶𝑐 = 𝜇0 ∗ 𝑁 𝑙 ∗ 𝐼𝑠 /𝑉s , onde 𝜇0 é uma constante , N*l = numero de espiras , Is = 50mV       Vh , as medidas da tabela  obtemos a constante de calibração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Linha vermelha + azul é a preta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Comparar preta (teorica ) com verde (pratica)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e99a0fb4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e99a0fb4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f01ff26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af01ff26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e99a0fb4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e99a0fb4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Relationship Id="rId7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07850"/>
            <a:ext cx="85206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/>
              <a:t>BOBINAS DE HELMHOLTZ</a:t>
            </a:r>
            <a:endParaRPr b="1" sz="5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266600"/>
            <a:ext cx="85206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Merriweather"/>
                <a:ea typeface="Merriweather"/>
                <a:cs typeface="Merriweather"/>
                <a:sym typeface="Merriweather"/>
              </a:rPr>
              <a:t>Mecânica e Campo Eletromagnético</a:t>
            </a:r>
            <a:endParaRPr b="1"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54750" y="3121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</a:rPr>
              <a:t>Alexandre Motsny, Martin Pereirinha, Tiago Pita</a:t>
            </a:r>
            <a:endParaRPr b="1">
              <a:solidFill>
                <a:srgbClr val="A5A5A9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12671"/>
          <a:stretch/>
        </p:blipFill>
        <p:spPr>
          <a:xfrm>
            <a:off x="82525" y="4406687"/>
            <a:ext cx="1870574" cy="60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3"/>
          <p:cNvGrpSpPr/>
          <p:nvPr/>
        </p:nvGrpSpPr>
        <p:grpSpPr>
          <a:xfrm>
            <a:off x="4455100" y="4250150"/>
            <a:ext cx="2366700" cy="814347"/>
            <a:chOff x="4455100" y="4250150"/>
            <a:chExt cx="2366700" cy="814347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4455109" y="4375697"/>
              <a:ext cx="0" cy="688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0" name="Google Shape;60;p13"/>
            <p:cNvGrpSpPr/>
            <p:nvPr/>
          </p:nvGrpSpPr>
          <p:grpSpPr>
            <a:xfrm>
              <a:off x="4455100" y="4250150"/>
              <a:ext cx="2366700" cy="814325"/>
              <a:chOff x="4319800" y="4250150"/>
              <a:chExt cx="2366700" cy="814325"/>
            </a:xfrm>
          </p:grpSpPr>
          <p:sp>
            <p:nvSpPr>
              <p:cNvPr id="61" name="Google Shape;61;p13"/>
              <p:cNvSpPr txBox="1"/>
              <p:nvPr/>
            </p:nvSpPr>
            <p:spPr>
              <a:xfrm>
                <a:off x="4319800" y="4250150"/>
                <a:ext cx="620700" cy="4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d</a:t>
                </a:r>
                <a:r>
                  <a:rPr b="1" lang="en" sz="1800">
                    <a:solidFill>
                      <a:schemeClr val="dk2"/>
                    </a:solidFill>
                  </a:rPr>
                  <a:t>eti</a:t>
                </a:r>
                <a:endParaRPr b="1" sz="1800">
                  <a:solidFill>
                    <a:schemeClr val="dk2"/>
                  </a:solidFill>
                </a:endParaRPr>
              </a:p>
            </p:txBody>
          </p:sp>
          <p:sp>
            <p:nvSpPr>
              <p:cNvPr id="62" name="Google Shape;62;p13"/>
              <p:cNvSpPr txBox="1"/>
              <p:nvPr/>
            </p:nvSpPr>
            <p:spPr>
              <a:xfrm>
                <a:off x="4319800" y="4538875"/>
                <a:ext cx="2366700" cy="52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2"/>
                    </a:solidFill>
                  </a:rPr>
                  <a:t>departamento de eletrónica, telecomunicações e informática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</p:grpSp>
      </p:grpSp>
      <p:grpSp>
        <p:nvGrpSpPr>
          <p:cNvPr id="63" name="Google Shape;63;p13"/>
          <p:cNvGrpSpPr/>
          <p:nvPr/>
        </p:nvGrpSpPr>
        <p:grpSpPr>
          <a:xfrm>
            <a:off x="1953100" y="4250150"/>
            <a:ext cx="2366700" cy="814335"/>
            <a:chOff x="2020750" y="4250163"/>
            <a:chExt cx="2366700" cy="814335"/>
          </a:xfrm>
        </p:grpSpPr>
        <p:cxnSp>
          <p:nvCxnSpPr>
            <p:cNvPr id="64" name="Google Shape;64;p13"/>
            <p:cNvCxnSpPr/>
            <p:nvPr/>
          </p:nvCxnSpPr>
          <p:spPr>
            <a:xfrm>
              <a:off x="2020759" y="4375697"/>
              <a:ext cx="0" cy="688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5" name="Google Shape;65;p13"/>
            <p:cNvGrpSpPr/>
            <p:nvPr/>
          </p:nvGrpSpPr>
          <p:grpSpPr>
            <a:xfrm>
              <a:off x="2020750" y="4250163"/>
              <a:ext cx="2366700" cy="814325"/>
              <a:chOff x="1953100" y="4250138"/>
              <a:chExt cx="2366700" cy="814325"/>
            </a:xfrm>
          </p:grpSpPr>
          <p:sp>
            <p:nvSpPr>
              <p:cNvPr id="66" name="Google Shape;66;p13"/>
              <p:cNvSpPr txBox="1"/>
              <p:nvPr/>
            </p:nvSpPr>
            <p:spPr>
              <a:xfrm>
                <a:off x="1953100" y="4250138"/>
                <a:ext cx="620700" cy="4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d</a:t>
                </a:r>
                <a:r>
                  <a:rPr b="1" lang="en" sz="1800">
                    <a:solidFill>
                      <a:schemeClr val="dk2"/>
                    </a:solidFill>
                  </a:rPr>
                  <a:t>fis</a:t>
                </a:r>
                <a:endParaRPr b="1" sz="1800">
                  <a:solidFill>
                    <a:schemeClr val="dk2"/>
                  </a:solidFill>
                </a:endParaRPr>
              </a:p>
            </p:txBody>
          </p:sp>
          <p:sp>
            <p:nvSpPr>
              <p:cNvPr id="67" name="Google Shape;67;p13"/>
              <p:cNvSpPr txBox="1"/>
              <p:nvPr/>
            </p:nvSpPr>
            <p:spPr>
              <a:xfrm>
                <a:off x="1953100" y="4538863"/>
                <a:ext cx="2366700" cy="52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2"/>
                    </a:solidFill>
                  </a:rPr>
                  <a:t>departamento de física</a:t>
                </a:r>
                <a:endParaRPr sz="1600">
                  <a:solidFill>
                    <a:schemeClr val="dk2"/>
                  </a:solidFill>
                </a:endParaRPr>
              </a:p>
            </p:txBody>
          </p:sp>
        </p:grpSp>
      </p:grp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743400"/>
            <a:ext cx="852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700"/>
              <a:t>Licenciatura em Engenharia de Computadores e Informática</a:t>
            </a:r>
            <a:endParaRPr b="1" sz="1700"/>
          </a:p>
        </p:txBody>
      </p:sp>
      <p:sp>
        <p:nvSpPr>
          <p:cNvPr id="69" name="Google Shape;69;p13"/>
          <p:cNvSpPr txBox="1"/>
          <p:nvPr/>
        </p:nvSpPr>
        <p:spPr>
          <a:xfrm>
            <a:off x="6821800" y="99375"/>
            <a:ext cx="21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Turma PL05 - Grupo 02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71" name="Google Shape;71;p13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2025-26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Corrente Elétrica e Campo Magnético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4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86" name="Google Shape;86;p14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- 01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311700" y="1113600"/>
            <a:ext cx="1915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Corrente Elétrica:</a:t>
            </a:r>
            <a:endParaRPr b="1" sz="1200">
              <a:solidFill>
                <a:schemeClr val="dk2"/>
              </a:solidFill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1772215" y="1165745"/>
            <a:ext cx="313398" cy="280008"/>
            <a:chOff x="333400" y="2338062"/>
            <a:chExt cx="934401" cy="834600"/>
          </a:xfrm>
        </p:grpSpPr>
        <p:sp>
          <p:nvSpPr>
            <p:cNvPr id="96" name="Google Shape;96;p14"/>
            <p:cNvSpPr/>
            <p:nvPr/>
          </p:nvSpPr>
          <p:spPr>
            <a:xfrm>
              <a:off x="355105" y="2338062"/>
              <a:ext cx="891000" cy="834600"/>
            </a:xfrm>
            <a:prstGeom prst="donut">
              <a:avLst>
                <a:gd fmla="val 50000" name="adj"/>
              </a:avLst>
            </a:prstGeom>
            <a:solidFill>
              <a:srgbClr val="CC0000"/>
            </a:solidFill>
            <a:ln cap="flat" cmpd="sng" w="12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825" lIns="18825" spcFirstLastPara="1" rIns="18825" wrap="square" tIns="1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8"/>
            </a:p>
          </p:txBody>
        </p:sp>
        <p:pic>
          <p:nvPicPr>
            <p:cNvPr id="97" name="Google Shape;9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3400" y="2395975"/>
              <a:ext cx="934401" cy="7187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4750" y="1212575"/>
            <a:ext cx="5652375" cy="3085581"/>
          </a:xfrm>
          <a:prstGeom prst="rect">
            <a:avLst/>
          </a:prstGeom>
          <a:noFill/>
          <a:ln cap="sq" cmpd="thickThin" w="1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4740" y="1212525"/>
            <a:ext cx="5652385" cy="3085651"/>
          </a:xfrm>
          <a:prstGeom prst="rect">
            <a:avLst/>
          </a:prstGeom>
          <a:noFill/>
          <a:ln cap="flat" cmpd="thickThin" w="1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grpSp>
        <p:nvGrpSpPr>
          <p:cNvPr id="100" name="Google Shape;100;p14"/>
          <p:cNvGrpSpPr/>
          <p:nvPr/>
        </p:nvGrpSpPr>
        <p:grpSpPr>
          <a:xfrm>
            <a:off x="1772224" y="1165749"/>
            <a:ext cx="313398" cy="280008"/>
            <a:chOff x="333400" y="2338062"/>
            <a:chExt cx="934401" cy="834600"/>
          </a:xfrm>
        </p:grpSpPr>
        <p:sp>
          <p:nvSpPr>
            <p:cNvPr id="101" name="Google Shape;101;p14"/>
            <p:cNvSpPr/>
            <p:nvPr/>
          </p:nvSpPr>
          <p:spPr>
            <a:xfrm>
              <a:off x="355105" y="2338062"/>
              <a:ext cx="891000" cy="834600"/>
            </a:xfrm>
            <a:prstGeom prst="donut">
              <a:avLst>
                <a:gd fmla="val 50000" name="adj"/>
              </a:avLst>
            </a:prstGeom>
            <a:solidFill>
              <a:srgbClr val="6AA84F"/>
            </a:solidFill>
            <a:ln cap="flat" cmpd="sng" w="12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850" lIns="18850" spcFirstLastPara="1" rIns="18850" wrap="square" tIns="18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8"/>
            </a:p>
          </p:txBody>
        </p:sp>
        <p:pic>
          <p:nvPicPr>
            <p:cNvPr id="102" name="Google Shape;10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3400" y="2395975"/>
              <a:ext cx="934401" cy="7187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 title="Gemini_Generated_Image_2kbr9g2kbr9g2kbr.png"/>
          <p:cNvPicPr preferRelativeResize="0"/>
          <p:nvPr/>
        </p:nvPicPr>
        <p:blipFill rotWithShape="1">
          <a:blip r:embed="rId7">
            <a:alphaModFix/>
          </a:blip>
          <a:srcRect b="524" l="0" r="0" t="534"/>
          <a:stretch/>
        </p:blipFill>
        <p:spPr>
          <a:xfrm>
            <a:off x="2454751" y="1212538"/>
            <a:ext cx="5652372" cy="3085649"/>
          </a:xfrm>
          <a:prstGeom prst="rect">
            <a:avLst/>
          </a:prstGeom>
          <a:noFill/>
          <a:ln cap="flat" cmpd="thickThin" w="1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4" name="Google Shape;104;p14"/>
          <p:cNvSpPr txBox="1"/>
          <p:nvPr/>
        </p:nvSpPr>
        <p:spPr>
          <a:xfrm>
            <a:off x="311700" y="1471825"/>
            <a:ext cx="1915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Quando a corrente elétrica passa por um fio, este gera um campo magnético ao seu redor.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11700" y="2458100"/>
            <a:ext cx="1915800" cy="23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Ao dobrar o fio, formando uma espécie de mola, estamos a intensificar o campo magnético, tornando o seu efeito mais </a:t>
            </a:r>
            <a:r>
              <a:rPr lang="en" sz="1200">
                <a:solidFill>
                  <a:schemeClr val="dk2"/>
                </a:solidFill>
              </a:rPr>
              <a:t>perceptível.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Quanto maior o número de voltas por unidade de medida, mais intenso é o campo magnético.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6" name="Google Shape;106;p14" title="unnamed (1)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4750" y="1212625"/>
            <a:ext cx="5652214" cy="3085575"/>
          </a:xfrm>
          <a:prstGeom prst="rect">
            <a:avLst/>
          </a:prstGeom>
          <a:noFill/>
          <a:ln cap="flat" cmpd="thickThin" w="1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7" name="Google Shape;107;p14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5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114" name="Google Shape;114;p15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02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122" name="Google Shape;122;p15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Ex1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Deduza a equação 1 e verifique que a mesma só é válida nos casos em que l &gt;&gt; R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5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311700" y="1013450"/>
            <a:ext cx="85206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De acordo com a lei de Ampère, o valor do campo magnético gerado por um circuito elétrico fechado, é obtido através da seguinte fórmula:</a:t>
            </a:r>
            <a:endParaRPr sz="15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311700" y="2598450"/>
            <a:ext cx="85206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Signika Negative"/>
                <a:ea typeface="Signika Negative"/>
                <a:cs typeface="Signika Negative"/>
                <a:sym typeface="Signika Negative"/>
              </a:rPr>
              <a:t>No entanto, como temos </a:t>
            </a:r>
            <a:r>
              <a:rPr b="1" lang="en" sz="1500">
                <a:latin typeface="Signika Negative"/>
                <a:ea typeface="Signika Negative"/>
                <a:cs typeface="Signika Negative"/>
                <a:sym typeface="Signika Negative"/>
              </a:rPr>
              <a:t>n</a:t>
            </a:r>
            <a:r>
              <a:rPr lang="en" sz="1500">
                <a:latin typeface="Signika Negative"/>
                <a:ea typeface="Signika Negative"/>
                <a:cs typeface="Signika Negative"/>
                <a:sym typeface="Signika Negative"/>
              </a:rPr>
              <a:t> espiras, o valor do campo magnético, terá que ser multiplicado por </a:t>
            </a:r>
            <a:r>
              <a:rPr b="1" lang="en" sz="1500">
                <a:latin typeface="Signika Negative"/>
                <a:ea typeface="Signika Negative"/>
                <a:cs typeface="Signika Negative"/>
                <a:sym typeface="Signika Negative"/>
              </a:rPr>
              <a:t>n</a:t>
            </a:r>
            <a:r>
              <a:rPr lang="en" sz="1500">
                <a:latin typeface="Signika Negative"/>
                <a:ea typeface="Signika Negative"/>
                <a:cs typeface="Signika Negative"/>
                <a:sym typeface="Signika Negative"/>
              </a:rPr>
              <a:t>, de maneira a obter o valor do campo magnético gerado pelo conjunto de espiras, a qual chamamos de solenoide:</a:t>
            </a:r>
            <a:endParaRPr sz="15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149" y="1692425"/>
            <a:ext cx="2310397" cy="90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5"/>
          <p:cNvCxnSpPr/>
          <p:nvPr/>
        </p:nvCxnSpPr>
        <p:spPr>
          <a:xfrm>
            <a:off x="3180948" y="1688750"/>
            <a:ext cx="0" cy="90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3274650" y="1688750"/>
            <a:ext cx="4312200" cy="9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i="1" lang="en" sz="14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  </a:t>
            </a:r>
            <a:r>
              <a:rPr i="1" lang="en" sz="1200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- Intensidade da Corrente Elétrica</a:t>
            </a:r>
            <a:endParaRPr i="1" sz="12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</a:t>
            </a:r>
            <a:r>
              <a:rPr i="1" lang="en" sz="1200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  - Constante da Permeabilidade do Campo Magnético no meio</a:t>
            </a:r>
            <a:endParaRPr i="1" sz="12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648" y="2159425"/>
            <a:ext cx="228419" cy="269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5"/>
          <p:cNvGrpSpPr/>
          <p:nvPr/>
        </p:nvGrpSpPr>
        <p:grpSpPr>
          <a:xfrm>
            <a:off x="2793425" y="3446500"/>
            <a:ext cx="2828150" cy="905700"/>
            <a:chOff x="311700" y="3273750"/>
            <a:chExt cx="2828150" cy="905700"/>
          </a:xfrm>
        </p:grpSpPr>
        <p:pic>
          <p:nvPicPr>
            <p:cNvPr id="133" name="Google Shape;133;p15"/>
            <p:cNvPicPr preferRelativeResize="0"/>
            <p:nvPr/>
          </p:nvPicPr>
          <p:blipFill rotWithShape="1">
            <a:blip r:embed="rId4">
              <a:alphaModFix/>
            </a:blip>
            <a:srcRect b="0" l="0" r="25439" t="0"/>
            <a:stretch/>
          </p:blipFill>
          <p:spPr>
            <a:xfrm>
              <a:off x="311700" y="3273750"/>
              <a:ext cx="1722674" cy="90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34375" y="3446500"/>
              <a:ext cx="1105475" cy="530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753175" y="3490725"/>
            <a:ext cx="4165500" cy="1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1 -</a:t>
            </a:r>
            <a:r>
              <a:rPr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 Campo magnético interior</a:t>
            </a:r>
            <a:endParaRPr sz="1495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2/4 -</a:t>
            </a:r>
            <a:r>
              <a:rPr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 Ligações dos campos magnéticos</a:t>
            </a:r>
            <a:endParaRPr sz="1495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b="1"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3 -</a:t>
            </a:r>
            <a:r>
              <a:rPr lang="en" sz="1495">
                <a:solidFill>
                  <a:srgbClr val="59595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 Campo Magnético Exterior</a:t>
            </a:r>
            <a:endParaRPr sz="1495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6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142" name="Google Shape;142;p16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03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150" name="Google Shape;150;p16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Ex1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6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Deduza a equação 1 e verifique que a mesma só é válida nos casos em que l &gt;&gt; R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" name="Google Shape;152;p16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" name="Google Shape;15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301" y="1172650"/>
            <a:ext cx="4127251" cy="22512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16"/>
          <p:cNvPicPr preferRelativeResize="0"/>
          <p:nvPr/>
        </p:nvPicPr>
        <p:blipFill rotWithShape="1">
          <a:blip r:embed="rId5">
            <a:alphaModFix/>
          </a:blip>
          <a:srcRect b="9444" l="15325" r="0" t="0"/>
          <a:stretch/>
        </p:blipFill>
        <p:spPr>
          <a:xfrm>
            <a:off x="5863602" y="3869100"/>
            <a:ext cx="1140252" cy="6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-19660" t="0"/>
          <a:stretch/>
        </p:blipFill>
        <p:spPr>
          <a:xfrm>
            <a:off x="5726425" y="1183275"/>
            <a:ext cx="3105875" cy="1017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1028" y="3134533"/>
            <a:ext cx="1852325" cy="717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1016" y="2301649"/>
            <a:ext cx="2013137" cy="78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6"/>
          <p:cNvCxnSpPr/>
          <p:nvPr/>
        </p:nvCxnSpPr>
        <p:spPr>
          <a:xfrm flipH="1">
            <a:off x="5312350" y="1038613"/>
            <a:ext cx="30900" cy="35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11700" y="1013450"/>
            <a:ext cx="4862700" cy="356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16"/>
          <p:cNvGrpSpPr/>
          <p:nvPr/>
        </p:nvGrpSpPr>
        <p:grpSpPr>
          <a:xfrm>
            <a:off x="1010283" y="1299962"/>
            <a:ext cx="3465525" cy="784176"/>
            <a:chOff x="1010283" y="1299962"/>
            <a:chExt cx="3465525" cy="784176"/>
          </a:xfrm>
        </p:grpSpPr>
        <p:pic>
          <p:nvPicPr>
            <p:cNvPr id="162" name="Google Shape;162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462672" y="1299962"/>
              <a:ext cx="2013137" cy="78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6"/>
            <p:cNvPicPr preferRelativeResize="0"/>
            <p:nvPr/>
          </p:nvPicPr>
          <p:blipFill rotWithShape="1">
            <a:blip r:embed="rId6">
              <a:alphaModFix/>
            </a:blip>
            <a:srcRect b="0" l="0" r="26578" t="0"/>
            <a:stretch/>
          </p:blipFill>
          <p:spPr>
            <a:xfrm>
              <a:off x="1010283" y="1299963"/>
              <a:ext cx="1468679" cy="78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311575" y="2044800"/>
            <a:ext cx="48627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Juntando agora tudo, obtemos a seguinte expressão:</a:t>
            </a:r>
            <a:endParaRPr sz="14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grpSp>
        <p:nvGrpSpPr>
          <p:cNvPr id="165" name="Google Shape;165;p16"/>
          <p:cNvGrpSpPr/>
          <p:nvPr/>
        </p:nvGrpSpPr>
        <p:grpSpPr>
          <a:xfrm>
            <a:off x="1820756" y="2430784"/>
            <a:ext cx="1844319" cy="784175"/>
            <a:chOff x="1010281" y="2571750"/>
            <a:chExt cx="1844319" cy="784175"/>
          </a:xfrm>
        </p:grpSpPr>
        <p:pic>
          <p:nvPicPr>
            <p:cNvPr id="166" name="Google Shape;166;p16"/>
            <p:cNvPicPr preferRelativeResize="0"/>
            <p:nvPr/>
          </p:nvPicPr>
          <p:blipFill rotWithShape="1">
            <a:blip r:embed="rId8">
              <a:alphaModFix/>
            </a:blip>
            <a:srcRect b="0" l="66887" r="0" t="0"/>
            <a:stretch/>
          </p:blipFill>
          <p:spPr>
            <a:xfrm>
              <a:off x="1010281" y="2571750"/>
              <a:ext cx="666600" cy="78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834239" y="2692763"/>
              <a:ext cx="1020361" cy="48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6"/>
            <p:cNvSpPr/>
            <p:nvPr/>
          </p:nvSpPr>
          <p:spPr>
            <a:xfrm>
              <a:off x="1601725" y="2754822"/>
              <a:ext cx="189900" cy="365100"/>
            </a:xfrm>
            <a:prstGeom prst="mathEqual">
              <a:avLst>
                <a:gd fmla="val 1927" name="adj1"/>
                <a:gd fmla="val 10489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11563" y="3100059"/>
            <a:ext cx="48627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Que simplificado, dá-nos a expressão do campo magnético de um </a:t>
            </a: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solenóide</a:t>
            </a:r>
            <a:endParaRPr sz="1400">
              <a:solidFill>
                <a:srgbClr val="59595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16888" y="3731200"/>
            <a:ext cx="1852325" cy="71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43351" y="1427774"/>
            <a:ext cx="1102325" cy="52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 amt="20000"/>
          </a:blip>
          <a:srcRect b="17500" l="18866" r="8905" t="28202"/>
          <a:stretch/>
        </p:blipFill>
        <p:spPr>
          <a:xfrm>
            <a:off x="0" y="0"/>
            <a:ext cx="9144001" cy="51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17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Ex2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7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8695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Com base no resultado no ponto anterior diga, justificadamente, em que posição do solenóide deve colocar a sonda de Hall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17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7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311700" y="1013450"/>
            <a:ext cx="85206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 sonda de Hall deverá de ser colocada no centro do interior do solenóide, equidistante das extremidades, devido a:</a:t>
            </a:r>
            <a:endParaRPr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ignika Negative"/>
              <a:buChar char="-"/>
            </a:pPr>
            <a:r>
              <a:rPr lang="en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Considerarmos o valor do campo magnético exterior como nulo;</a:t>
            </a:r>
            <a:endParaRPr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ignika Negative"/>
              <a:buChar char="-"/>
            </a:pPr>
            <a:r>
              <a:rPr lang="en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O comprimento do solenóide (l) ser muito maior do que o raio (R), l &gt;&gt; R;</a:t>
            </a:r>
            <a:endParaRPr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ignika Negative"/>
              <a:buChar char="-"/>
            </a:pPr>
            <a:r>
              <a:rPr lang="en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Evitar o contacto da sonda com o campo magnético presentes nas extremidades do solenóide;</a:t>
            </a:r>
            <a:endParaRPr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ignika Negative"/>
              <a:buChar char="-"/>
            </a:pPr>
            <a:r>
              <a:rPr lang="en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 intensidade e a tensão do campo magnético serem máximas no centro do solenoide;</a:t>
            </a:r>
            <a:endParaRPr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83" name="Google Shape;183;p17"/>
          <p:cNvSpPr/>
          <p:nvPr/>
        </p:nvSpPr>
        <p:spPr>
          <a:xfrm rot="2445608">
            <a:off x="8361771" y="3038124"/>
            <a:ext cx="129118" cy="2735616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184" name="Google Shape;184;p17"/>
          <p:cNvSpPr/>
          <p:nvPr/>
        </p:nvSpPr>
        <p:spPr>
          <a:xfrm rot="2445369">
            <a:off x="8550478" y="3578207"/>
            <a:ext cx="120397" cy="197369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185" name="Google Shape;185;p17"/>
          <p:cNvSpPr/>
          <p:nvPr/>
        </p:nvSpPr>
        <p:spPr>
          <a:xfrm rot="2448030">
            <a:off x="8731473" y="3992076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186" name="Google Shape;186;p17"/>
          <p:cNvSpPr/>
          <p:nvPr/>
        </p:nvSpPr>
        <p:spPr>
          <a:xfrm rot="2448030">
            <a:off x="8915448" y="4150828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04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10" y="1164888"/>
            <a:ext cx="8816989" cy="24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Ex3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8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200">
                <a:latin typeface="Lexend"/>
                <a:ea typeface="Lexend"/>
                <a:cs typeface="Lexend"/>
                <a:sym typeface="Lexend"/>
              </a:rPr>
              <a:t>Recorrendo à equação 2, faça um simples esboço dos gráficos esperados do campo magnético total (B1+B2), nos casos em que a separação, d, entre as bobinas é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18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18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198" name="Google Shape;198;p18"/>
          <p:cNvSpPr/>
          <p:nvPr/>
        </p:nvSpPr>
        <p:spPr>
          <a:xfrm rot="2445608">
            <a:off x="8361771" y="3038124"/>
            <a:ext cx="129118" cy="2735616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199" name="Google Shape;199;p18"/>
          <p:cNvSpPr/>
          <p:nvPr/>
        </p:nvSpPr>
        <p:spPr>
          <a:xfrm rot="2445369">
            <a:off x="8550478" y="3578207"/>
            <a:ext cx="120397" cy="197369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00" name="Google Shape;200;p18"/>
          <p:cNvSpPr/>
          <p:nvPr/>
        </p:nvSpPr>
        <p:spPr>
          <a:xfrm rot="2448030">
            <a:off x="8731473" y="3992076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01" name="Google Shape;201;p18"/>
          <p:cNvSpPr/>
          <p:nvPr/>
        </p:nvSpPr>
        <p:spPr>
          <a:xfrm rot="2448030">
            <a:off x="8915448" y="4150828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05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03" name="Google Shape;203;p18"/>
          <p:cNvPicPr preferRelativeResize="0"/>
          <p:nvPr/>
        </p:nvPicPr>
        <p:blipFill rotWithShape="1">
          <a:blip r:embed="rId6">
            <a:alphaModFix/>
          </a:blip>
          <a:srcRect b="7243" l="0" r="0" t="7643"/>
          <a:stretch/>
        </p:blipFill>
        <p:spPr>
          <a:xfrm>
            <a:off x="3090471" y="3654363"/>
            <a:ext cx="2963065" cy="91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447" y="1013450"/>
            <a:ext cx="4911115" cy="359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Ex4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8695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Construa uma tabela onde deverá registar as grandezas físicas a medir na parte de calibração na sonda de Hall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19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214" name="Google Shape;214;p19"/>
          <p:cNvSpPr/>
          <p:nvPr/>
        </p:nvSpPr>
        <p:spPr>
          <a:xfrm rot="2445608">
            <a:off x="8361771" y="3038124"/>
            <a:ext cx="129118" cy="2735616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15" name="Google Shape;215;p19"/>
          <p:cNvSpPr/>
          <p:nvPr/>
        </p:nvSpPr>
        <p:spPr>
          <a:xfrm rot="2445369">
            <a:off x="8550478" y="3578207"/>
            <a:ext cx="120397" cy="197369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16" name="Google Shape;216;p19"/>
          <p:cNvSpPr/>
          <p:nvPr/>
        </p:nvSpPr>
        <p:spPr>
          <a:xfrm rot="2448030">
            <a:off x="8731473" y="3992076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17" name="Google Shape;217;p19"/>
          <p:cNvSpPr/>
          <p:nvPr/>
        </p:nvSpPr>
        <p:spPr>
          <a:xfrm rot="2448030">
            <a:off x="8915448" y="4150828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06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525" y="1065120"/>
            <a:ext cx="6065400" cy="3223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type="title"/>
          </p:nvPr>
        </p:nvSpPr>
        <p:spPr>
          <a:xfrm>
            <a:off x="311700" y="292625"/>
            <a:ext cx="84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Ex5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>
            <p:ph type="title"/>
          </p:nvPr>
        </p:nvSpPr>
        <p:spPr>
          <a:xfrm>
            <a:off x="1174800" y="292625"/>
            <a:ext cx="6065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200">
                <a:latin typeface="Lexend"/>
                <a:ea typeface="Lexend"/>
                <a:cs typeface="Lexend"/>
                <a:sym typeface="Lexend"/>
              </a:rPr>
              <a:t>Com base na constante de Calibração obtida, faça uma nova tabela, para registar os dados necessários para a determinação do campo magnético nas condições requeridas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flipH="1">
            <a:off x="115920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0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229" name="Google Shape;229;p20"/>
          <p:cNvSpPr/>
          <p:nvPr/>
        </p:nvSpPr>
        <p:spPr>
          <a:xfrm rot="2445608">
            <a:off x="8361771" y="3038124"/>
            <a:ext cx="129118" cy="2735616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30" name="Google Shape;230;p20"/>
          <p:cNvSpPr/>
          <p:nvPr/>
        </p:nvSpPr>
        <p:spPr>
          <a:xfrm rot="2445369">
            <a:off x="8550478" y="3578207"/>
            <a:ext cx="120397" cy="1973698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31" name="Google Shape;231;p20"/>
          <p:cNvSpPr/>
          <p:nvPr/>
        </p:nvSpPr>
        <p:spPr>
          <a:xfrm rot="2448030">
            <a:off x="8731473" y="3992076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32" name="Google Shape;232;p20"/>
          <p:cNvSpPr/>
          <p:nvPr/>
        </p:nvSpPr>
        <p:spPr>
          <a:xfrm rot="2448030">
            <a:off x="8915448" y="4150828"/>
            <a:ext cx="121666" cy="1459375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7E6B"/>
              </a:solidFill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07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9115" r="0" t="0"/>
          <a:stretch/>
        </p:blipFill>
        <p:spPr>
          <a:xfrm>
            <a:off x="311700" y="1198450"/>
            <a:ext cx="1838550" cy="11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6">
            <a:alphaModFix/>
          </a:blip>
          <a:srcRect b="29308" l="3743" r="46281" t="9518"/>
          <a:stretch/>
        </p:blipFill>
        <p:spPr>
          <a:xfrm>
            <a:off x="311700" y="2656675"/>
            <a:ext cx="1838550" cy="7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/>
          <p:cNvPicPr preferRelativeResize="0"/>
          <p:nvPr/>
        </p:nvPicPr>
        <p:blipFill rotWithShape="1">
          <a:blip r:embed="rId6">
            <a:alphaModFix/>
          </a:blip>
          <a:srcRect b="29308" l="54848" r="4696" t="9518"/>
          <a:stretch/>
        </p:blipFill>
        <p:spPr>
          <a:xfrm>
            <a:off x="311699" y="3518125"/>
            <a:ext cx="1488300" cy="7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title"/>
          </p:nvPr>
        </p:nvSpPr>
        <p:spPr>
          <a:xfrm>
            <a:off x="311700" y="292625"/>
            <a:ext cx="1722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Lexend"/>
                <a:ea typeface="Lexend"/>
                <a:cs typeface="Lexend"/>
                <a:sym typeface="Lexend"/>
              </a:rPr>
              <a:t>Parte A</a:t>
            </a:r>
            <a:endParaRPr b="1" sz="30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5280650" y="1013450"/>
            <a:ext cx="36657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ignika Negative"/>
                <a:ea typeface="Signika Negative"/>
                <a:cs typeface="Signika Negative"/>
                <a:sym typeface="Signika Negative"/>
              </a:rPr>
              <a:t>Material utilizado:</a:t>
            </a:r>
            <a:endParaRPr b="1" sz="17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2 Multimetros Digitais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Amperimetro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Voltimetro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Fita métrica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Fonte de Alimentação | 15V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Reóstato | 110Ω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Sonda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Suporte da Sonda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Solenoide Padrão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Enrolamento: 3467±60 espiras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Comprimento: 21cm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Medidor de Efeito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Cabos elétricos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97" y="1042888"/>
            <a:ext cx="4660252" cy="349642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21"/>
          <p:cNvSpPr txBox="1"/>
          <p:nvPr>
            <p:ph type="title"/>
          </p:nvPr>
        </p:nvSpPr>
        <p:spPr>
          <a:xfrm>
            <a:off x="2034550" y="292625"/>
            <a:ext cx="520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718">
                <a:latin typeface="Lexend"/>
                <a:ea typeface="Lexend"/>
                <a:cs typeface="Lexend"/>
                <a:sym typeface="Lexend"/>
              </a:rPr>
              <a:t>Calibração da Sonda de Hall</a:t>
            </a:r>
            <a:endParaRPr b="1" sz="17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1"/>
          <p:cNvCxnSpPr/>
          <p:nvPr/>
        </p:nvCxnSpPr>
        <p:spPr>
          <a:xfrm flipH="1">
            <a:off x="201895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8" name="Google Shape;248;p21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249" name="Google Shape;249;p21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E599"/>
                </a:solidFill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08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A.2 - O Solenoide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>
            <p:ph idx="1" type="body"/>
          </p:nvPr>
        </p:nvSpPr>
        <p:spPr>
          <a:xfrm>
            <a:off x="5244350" y="2621600"/>
            <a:ext cx="3714000" cy="11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Solenoide Infinito - L &gt;&gt; 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Campo uniforme no centro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/ L = 3467 espiras/m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2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266" name="Google Shape;266;p22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72" name="Google Shape;272;p22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0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09‎‎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274" name="Google Shape;274;p22" title="CodeCogsEq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603" y="1484253"/>
            <a:ext cx="2285775" cy="6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title="abc.jpeg"/>
          <p:cNvPicPr preferRelativeResize="0"/>
          <p:nvPr/>
        </p:nvPicPr>
        <p:blipFill rotWithShape="1">
          <a:blip r:embed="rId5">
            <a:alphaModFix/>
          </a:blip>
          <a:srcRect b="0" l="6163" r="6155" t="0"/>
          <a:stretch/>
        </p:blipFill>
        <p:spPr>
          <a:xfrm>
            <a:off x="915275" y="1484251"/>
            <a:ext cx="4203026" cy="229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A.3 - O Efeito de Hall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2454750" y="2845950"/>
            <a:ext cx="27885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Força de Lorentz:</a:t>
            </a:r>
            <a:endParaRPr b="1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Equilíbrio:</a:t>
            </a:r>
            <a:endParaRPr b="1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Relação Linear:</a:t>
            </a:r>
            <a:endParaRPr b="1"/>
          </a:p>
        </p:txBody>
      </p:sp>
      <p:sp>
        <p:nvSpPr>
          <p:cNvPr id="282" name="Google Shape;282;p23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3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285" name="Google Shape;285;p23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0" name="Google Shape;290;p23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0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10‎‎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293" name="Google Shape;29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052" y="1013450"/>
            <a:ext cx="3963875" cy="168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title="CodeCogsEq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4650" y="2980900"/>
            <a:ext cx="1371600" cy="20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title="CodeCogsEqn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5638" y="3494933"/>
            <a:ext cx="1737361" cy="173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title="CodeCogsEqn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8200" y="4088980"/>
            <a:ext cx="1097280" cy="18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A.4 - 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Procedimento Experimental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4"/>
          <p:cNvSpPr txBox="1"/>
          <p:nvPr>
            <p:ph idx="1" type="body"/>
          </p:nvPr>
        </p:nvSpPr>
        <p:spPr>
          <a:xfrm>
            <a:off x="706375" y="2894350"/>
            <a:ext cx="7731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Posicionamento da sonda:</a:t>
            </a:r>
            <a:r>
              <a:rPr lang="en"/>
              <a:t> Centro geométrico - 10.5 cm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04" name="Google Shape;304;p24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24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306" name="Google Shape;306;p24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11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314" name="Google Shape;31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1890" y="1013450"/>
            <a:ext cx="5120225" cy="188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274" y="3525400"/>
            <a:ext cx="773144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A.5 - 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Verificação da Linearidade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5"/>
          <p:cNvSpPr txBox="1"/>
          <p:nvPr>
            <p:ph idx="1" type="body"/>
          </p:nvPr>
        </p:nvSpPr>
        <p:spPr>
          <a:xfrm>
            <a:off x="4689650" y="2030600"/>
            <a:ext cx="3723300" cy="15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Eixo X:</a:t>
            </a:r>
            <a:r>
              <a:rPr lang="en" sz="1300">
                <a:solidFill>
                  <a:schemeClr val="dk1"/>
                </a:solidFill>
              </a:rPr>
              <a:t> Corrente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Eixo Y:</a:t>
            </a:r>
            <a:r>
              <a:rPr lang="en" sz="1300">
                <a:solidFill>
                  <a:schemeClr val="dk1"/>
                </a:solidFill>
              </a:rPr>
              <a:t> Tensão de Hall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Coeficiente: R² = 1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Validação do comportamento óhmico da sonda.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23" name="Google Shape;323;p25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5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325" name="Google Shape;325;p25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32" name="Google Shape;332;p25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12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333" name="Google Shape;3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530" y="1332213"/>
            <a:ext cx="3888124" cy="29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A.6 - Cálculo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 da Constante e Conclusão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40" name="Google Shape;340;p26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342" name="Google Shape;342;p26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7" name="Google Shape;347;p26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49" name="Google Shape;349;p26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13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350" name="Google Shape;350;p26" title="CodeCogsEqn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400" y="2837714"/>
            <a:ext cx="3219206" cy="651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 title="CodeCogsEqn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8950" y="1994496"/>
            <a:ext cx="4446098" cy="64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6" title="CodeCogsEqn (4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6896" y="1176275"/>
            <a:ext cx="3870214" cy="61517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/>
        </p:nvSpPr>
        <p:spPr>
          <a:xfrm>
            <a:off x="311700" y="2966775"/>
            <a:ext cx="21684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Dado a média: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𝐼𝑠 = 0,44A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𝑉𝐻 = 0,069V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54" name="Google Shape;354;p26" title="CodeCogsEqn (7).png"/>
          <p:cNvPicPr preferRelativeResize="0"/>
          <p:nvPr/>
        </p:nvPicPr>
        <p:blipFill rotWithShape="1">
          <a:blip r:embed="rId7">
            <a:alphaModFix/>
          </a:blip>
          <a:srcRect b="1095" l="0" r="0" t="1105"/>
          <a:stretch/>
        </p:blipFill>
        <p:spPr>
          <a:xfrm>
            <a:off x="3792300" y="3763847"/>
            <a:ext cx="1828800" cy="25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/>
          <p:nvPr>
            <p:ph type="title"/>
          </p:nvPr>
        </p:nvSpPr>
        <p:spPr>
          <a:xfrm>
            <a:off x="311700" y="292625"/>
            <a:ext cx="1722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Parte</a:t>
            </a: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 B1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61" name="Google Shape;361;p27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5280650" y="1013450"/>
            <a:ext cx="36657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ignika Negative"/>
                <a:ea typeface="Signika Negative"/>
                <a:cs typeface="Signika Negative"/>
                <a:sym typeface="Signika Negative"/>
              </a:rPr>
              <a:t>Material utilizado:</a:t>
            </a:r>
            <a:endParaRPr b="1" sz="17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2 Multimetros Digitais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Amperimetro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Voltimetro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Fita métrica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Fonte de Alimentação | 15V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Reóstato | 110Ω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Sonda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Suporte da Sonda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Bobina de Helmholtz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Medidor de Efeito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Cabos elétricos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363" name="Google Shape;363;p27"/>
          <p:cNvSpPr txBox="1"/>
          <p:nvPr>
            <p:ph type="title"/>
          </p:nvPr>
        </p:nvSpPr>
        <p:spPr>
          <a:xfrm>
            <a:off x="2034550" y="292625"/>
            <a:ext cx="520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Verificação do Princípio da Sobreposição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do Campo Magnético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7"/>
          <p:cNvCxnSpPr/>
          <p:nvPr/>
        </p:nvCxnSpPr>
        <p:spPr>
          <a:xfrm flipH="1">
            <a:off x="201895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5" name="Google Shape;3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00" y="1041590"/>
            <a:ext cx="4660250" cy="349773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66" name="Google Shape;366;p27"/>
          <p:cNvGrpSpPr/>
          <p:nvPr/>
        </p:nvGrpSpPr>
        <p:grpSpPr>
          <a:xfrm>
            <a:off x="7395323" y="3186654"/>
            <a:ext cx="2434378" cy="2741579"/>
            <a:chOff x="7395323" y="3186654"/>
            <a:chExt cx="2434378" cy="2741579"/>
          </a:xfrm>
        </p:grpSpPr>
        <p:sp>
          <p:nvSpPr>
            <p:cNvPr id="367" name="Google Shape;367;p27"/>
            <p:cNvSpPr/>
            <p:nvPr/>
          </p:nvSpPr>
          <p:spPr>
            <a:xfrm rot="2447450">
              <a:off x="8361697" y="3038068"/>
              <a:ext cx="129000" cy="2735702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 rot="2447450">
              <a:off x="8550457" y="3578196"/>
              <a:ext cx="120300" cy="1973701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 rot="2447450">
              <a:off x="8731454" y="3991995"/>
              <a:ext cx="121500" cy="1459501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 rot="2447450">
              <a:off x="8823441" y="4071371"/>
              <a:ext cx="121500" cy="145950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 rot="2447450">
              <a:off x="8915429" y="4150747"/>
              <a:ext cx="121500" cy="1459501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 rot="2447450">
              <a:off x="8464188" y="2821419"/>
              <a:ext cx="114300" cy="33147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 rot="2447450">
              <a:off x="8646535" y="2978766"/>
              <a:ext cx="114300" cy="33147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74" name="Google Shape;374;p27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MCE - 14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B1.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1 - Objetivos e Metodologia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8"/>
          <p:cNvSpPr txBox="1"/>
          <p:nvPr>
            <p:ph idx="1" type="body"/>
          </p:nvPr>
        </p:nvSpPr>
        <p:spPr>
          <a:xfrm>
            <a:off x="311700" y="1013450"/>
            <a:ext cx="85206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: Verificação do princípio da sobreposição para o campo magnético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Metodologia : Medir o campo magnético das 2 bobinas a diferente </a:t>
            </a:r>
            <a:r>
              <a:rPr lang="en"/>
              <a:t>distâncias</a:t>
            </a:r>
            <a:r>
              <a:rPr lang="en"/>
              <a:t> </a:t>
            </a:r>
            <a:r>
              <a:rPr lang="en"/>
              <a:t> 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82" name="Google Shape;382;p28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/>
          <p:nvPr/>
        </p:nvSpPr>
        <p:spPr>
          <a:xfrm rot="2447450">
            <a:off x="8361697" y="3038068"/>
            <a:ext cx="129000" cy="2735702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4" name="Google Shape;384;p28"/>
          <p:cNvSpPr/>
          <p:nvPr/>
        </p:nvSpPr>
        <p:spPr>
          <a:xfrm rot="2447450">
            <a:off x="8550457" y="3578196"/>
            <a:ext cx="120300" cy="1973701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5" name="Google Shape;385;p28"/>
          <p:cNvSpPr/>
          <p:nvPr/>
        </p:nvSpPr>
        <p:spPr>
          <a:xfrm rot="2447450">
            <a:off x="8731454" y="3991995"/>
            <a:ext cx="121500" cy="1459501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6" name="Google Shape;386;p28"/>
          <p:cNvSpPr/>
          <p:nvPr/>
        </p:nvSpPr>
        <p:spPr>
          <a:xfrm rot="2447450">
            <a:off x="8823441" y="4071371"/>
            <a:ext cx="121500" cy="14595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7" name="Google Shape;387;p28"/>
          <p:cNvSpPr/>
          <p:nvPr/>
        </p:nvSpPr>
        <p:spPr>
          <a:xfrm rot="2447450">
            <a:off x="8915429" y="4150747"/>
            <a:ext cx="121500" cy="1459501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8" name="Google Shape;388;p28"/>
          <p:cNvSpPr/>
          <p:nvPr/>
        </p:nvSpPr>
        <p:spPr>
          <a:xfrm rot="2447450">
            <a:off x="8464188" y="2821419"/>
            <a:ext cx="114300" cy="331470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89" name="Google Shape;389;p28"/>
          <p:cNvSpPr/>
          <p:nvPr/>
        </p:nvSpPr>
        <p:spPr>
          <a:xfrm rot="2447450">
            <a:off x="8646535" y="2978766"/>
            <a:ext cx="114300" cy="331470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- 15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B1.2.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 - Análise e Tratamento de Dados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397" name="Google Shape;397;p29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29"/>
          <p:cNvGrpSpPr/>
          <p:nvPr/>
        </p:nvGrpSpPr>
        <p:grpSpPr>
          <a:xfrm rot="-2952550">
            <a:off x="7046990" y="4210842"/>
            <a:ext cx="3314702" cy="851683"/>
            <a:chOff x="2164075" y="3432250"/>
            <a:chExt cx="3314700" cy="851683"/>
          </a:xfrm>
        </p:grpSpPr>
        <p:sp>
          <p:nvSpPr>
            <p:cNvPr id="399" name="Google Shape;399;p29"/>
            <p:cNvSpPr/>
            <p:nvPr/>
          </p:nvSpPr>
          <p:spPr>
            <a:xfrm rot="5400000">
              <a:off x="3749925" y="2128900"/>
              <a:ext cx="129000" cy="2735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 rot="5400000">
              <a:off x="3754275" y="2753475"/>
              <a:ext cx="120300" cy="1973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 rot="5400000">
              <a:off x="3753675" y="3250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 rot="5400000">
              <a:off x="3753675" y="3371933"/>
              <a:ext cx="121500" cy="145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 rot="5400000">
              <a:off x="3753675" y="3493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 rot="5400000">
              <a:off x="3764275" y="195902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 rot="5400000">
              <a:off x="3764275" y="219987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</p:grpSp>
      <p:sp>
        <p:nvSpPr>
          <p:cNvPr id="406" name="Google Shape;406;p29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16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407" name="Google Shape;407;p29" title="Medida da tensão elétrica"/>
          <p:cNvGraphicFramePr/>
          <p:nvPr/>
        </p:nvGraphicFramePr>
        <p:xfrm>
          <a:off x="505175" y="334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{D3A5D8C9-A6B0-43F7-8554-0CB34268EF17}</a:tableStyleId>
              </a:tblPr>
              <a:tblGrid>
                <a:gridCol w="844750"/>
                <a:gridCol w="590000"/>
                <a:gridCol w="587150"/>
                <a:gridCol w="567850"/>
                <a:gridCol w="607850"/>
                <a:gridCol w="588225"/>
                <a:gridCol w="588225"/>
                <a:gridCol w="588225"/>
                <a:gridCol w="588225"/>
                <a:gridCol w="588225"/>
                <a:gridCol w="588225"/>
                <a:gridCol w="5882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Posição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(20 cm)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Valor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(mV)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15,7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14,8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13,0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10,6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8,0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8" name="Google Shape;408;p29" title="Medida da tensão elétrica"/>
          <p:cNvGraphicFramePr/>
          <p:nvPr/>
        </p:nvGraphicFramePr>
        <p:xfrm>
          <a:off x="505175" y="1374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{D3A5D8C9-A6B0-43F7-8554-0CB34268EF17}</a:tableStyleId>
              </a:tblPr>
              <a:tblGrid>
                <a:gridCol w="844750"/>
                <a:gridCol w="590000"/>
                <a:gridCol w="587150"/>
                <a:gridCol w="567850"/>
                <a:gridCol w="607850"/>
                <a:gridCol w="588225"/>
                <a:gridCol w="588225"/>
                <a:gridCol w="588225"/>
                <a:gridCol w="588225"/>
                <a:gridCol w="588225"/>
                <a:gridCol w="588225"/>
                <a:gridCol w="5882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Posição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(10 cm)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Valor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(mV)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19,7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19,3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16,5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12,0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8,6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"/>
          <p:cNvSpPr txBox="1"/>
          <p:nvPr>
            <p:ph type="title"/>
          </p:nvPr>
        </p:nvSpPr>
        <p:spPr>
          <a:xfrm>
            <a:off x="311700" y="292625"/>
            <a:ext cx="1722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Lexend"/>
                <a:ea typeface="Lexend"/>
                <a:cs typeface="Lexend"/>
                <a:sym typeface="Lexend"/>
              </a:rPr>
              <a:t>Parte B2</a:t>
            </a:r>
            <a:endParaRPr b="1" sz="27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 sz="1200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 sz="1200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415" name="Google Shape;415;p30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0"/>
          <p:cNvSpPr txBox="1"/>
          <p:nvPr>
            <p:ph idx="1" type="body"/>
          </p:nvPr>
        </p:nvSpPr>
        <p:spPr>
          <a:xfrm>
            <a:off x="5280650" y="1013450"/>
            <a:ext cx="36657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ignika Negative"/>
                <a:ea typeface="Signika Negative"/>
                <a:cs typeface="Signika Negative"/>
                <a:sym typeface="Signika Negative"/>
              </a:rPr>
              <a:t>Material utilizado:</a:t>
            </a:r>
            <a:endParaRPr b="1" sz="17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2 Multimetros Digitais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Amperimetro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ignika Negative"/>
              <a:buChar char="-"/>
            </a:pPr>
            <a:r>
              <a:rPr lang="en" sz="1200">
                <a:latin typeface="Signika Negative"/>
                <a:ea typeface="Signika Negative"/>
                <a:cs typeface="Signika Negative"/>
                <a:sym typeface="Signika Negative"/>
              </a:rPr>
              <a:t>Voltimetro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Fita métrica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Fonte de Alimentação | 15V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Reóstato | 110Ω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Sonda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Suporte da Sonda</a:t>
            </a:r>
            <a:endParaRPr sz="12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Bobinas de Helmholtz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Medidor de Efeito de Hall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ignika Negative"/>
              <a:buChar char="-"/>
            </a:pPr>
            <a:r>
              <a:rPr lang="en" sz="1400">
                <a:latin typeface="Signika Negative"/>
                <a:ea typeface="Signika Negative"/>
                <a:cs typeface="Signika Negative"/>
                <a:sym typeface="Signika Negative"/>
              </a:rPr>
              <a:t>Cabos elétricos</a:t>
            </a:r>
            <a:endParaRPr sz="1400"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417" name="Google Shape;417;p30"/>
          <p:cNvSpPr txBox="1"/>
          <p:nvPr>
            <p:ph type="title"/>
          </p:nvPr>
        </p:nvSpPr>
        <p:spPr>
          <a:xfrm>
            <a:off x="2034550" y="292625"/>
            <a:ext cx="5205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Verificação do Princípio da Sobreposição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518">
                <a:latin typeface="Lexend"/>
                <a:ea typeface="Lexend"/>
                <a:cs typeface="Lexend"/>
                <a:sym typeface="Lexend"/>
              </a:rPr>
              <a:t>do Campo Magnético</a:t>
            </a:r>
            <a:endParaRPr b="1" sz="151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8" name="Google Shape;418;p30"/>
          <p:cNvCxnSpPr/>
          <p:nvPr/>
        </p:nvCxnSpPr>
        <p:spPr>
          <a:xfrm flipH="1">
            <a:off x="2018950" y="294875"/>
            <a:ext cx="15600" cy="56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9" name="Google Shape;419;p30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420" name="Google Shape;420;p30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22" name="Google Shape;422;p30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23" name="Google Shape;423;p30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25" name="Google Shape;425;p30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26" name="Google Shape;426;p30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27" name="Google Shape;427;p30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- 17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428" name="Google Shape;42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01" y="1040216"/>
            <a:ext cx="4660251" cy="349910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B2.1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 - Objetivos e Metodologia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1"/>
          <p:cNvSpPr txBox="1"/>
          <p:nvPr>
            <p:ph idx="1" type="body"/>
          </p:nvPr>
        </p:nvSpPr>
        <p:spPr>
          <a:xfrm>
            <a:off x="311700" y="1013450"/>
            <a:ext cx="8520600" cy="3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</a:t>
            </a:r>
            <a:r>
              <a:rPr lang="en"/>
              <a:t>o </a:t>
            </a:r>
            <a:r>
              <a:rPr lang="en"/>
              <a:t>: Verificação do princípio da sobreposição para o campo magnético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Metodologia : </a:t>
            </a:r>
            <a:r>
              <a:rPr lang="en"/>
              <a:t>Medir o campo magnético de 2 bobinas em série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436" name="Google Shape;436;p31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31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438" name="Google Shape;438;p31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39" name="Google Shape;439;p31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40" name="Google Shape;440;p31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45" name="Google Shape;445;p31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- 18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B2.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2.1 - Análise e Tratamento de Dados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2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452" name="Google Shape;452;p32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32"/>
          <p:cNvGrpSpPr/>
          <p:nvPr/>
        </p:nvGrpSpPr>
        <p:grpSpPr>
          <a:xfrm rot="-2952550">
            <a:off x="7046990" y="4210842"/>
            <a:ext cx="3314702" cy="851683"/>
            <a:chOff x="2164075" y="3432250"/>
            <a:chExt cx="3314700" cy="851683"/>
          </a:xfrm>
        </p:grpSpPr>
        <p:sp>
          <p:nvSpPr>
            <p:cNvPr id="454" name="Google Shape;454;p32"/>
            <p:cNvSpPr/>
            <p:nvPr/>
          </p:nvSpPr>
          <p:spPr>
            <a:xfrm rot="5400000">
              <a:off x="3749925" y="2128900"/>
              <a:ext cx="129000" cy="2735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 rot="5400000">
              <a:off x="3754275" y="2753475"/>
              <a:ext cx="120300" cy="1973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 rot="5400000">
              <a:off x="3753675" y="3250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 rot="5400000">
              <a:off x="3753675" y="3371933"/>
              <a:ext cx="121500" cy="145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 rot="5400000">
              <a:off x="3753675" y="3493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 rot="5400000">
              <a:off x="3764275" y="195902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 rot="5400000">
              <a:off x="3764275" y="219987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</p:grpSp>
      <p:sp>
        <p:nvSpPr>
          <p:cNvPr id="461" name="Google Shape;461;p32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04‎‎ 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462" name="Google Shape;462;p32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463" name="Google Shape;463;p32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70" name="Google Shape;470;p32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- 19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471" name="Google Shape;47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8137" y="1101200"/>
            <a:ext cx="5767725" cy="330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B.2.</a:t>
            </a: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2.2 - Análise e Tratamento de Dados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478" name="Google Shape;478;p33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33"/>
          <p:cNvGrpSpPr/>
          <p:nvPr/>
        </p:nvGrpSpPr>
        <p:grpSpPr>
          <a:xfrm rot="-2952550">
            <a:off x="7046990" y="4210842"/>
            <a:ext cx="3314702" cy="851683"/>
            <a:chOff x="2164075" y="3432250"/>
            <a:chExt cx="3314700" cy="851683"/>
          </a:xfrm>
        </p:grpSpPr>
        <p:sp>
          <p:nvSpPr>
            <p:cNvPr id="480" name="Google Shape;480;p33"/>
            <p:cNvSpPr/>
            <p:nvPr/>
          </p:nvSpPr>
          <p:spPr>
            <a:xfrm rot="5400000">
              <a:off x="3749925" y="2128900"/>
              <a:ext cx="129000" cy="2735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 rot="5400000">
              <a:off x="3754275" y="2753475"/>
              <a:ext cx="120300" cy="1973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 rot="5400000">
              <a:off x="3753675" y="3250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 rot="5400000">
              <a:off x="3753675" y="3371933"/>
              <a:ext cx="121500" cy="145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 rot="5400000">
              <a:off x="3753675" y="3493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 rot="5400000">
              <a:off x="3764275" y="195902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 rot="5400000">
              <a:off x="3764275" y="219987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</p:grpSp>
      <p:sp>
        <p:nvSpPr>
          <p:cNvPr id="487" name="Google Shape;487;p33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04‎‎ 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488" name="Google Shape;488;p33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489" name="Google Shape;489;p33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92" name="Google Shape;492;p33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93" name="Google Shape;493;p33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496" name="Google Shape;496;p33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MCE - 20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497" name="Google Shape;4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0" y="1061725"/>
            <a:ext cx="6774550" cy="33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9189" y="1208570"/>
            <a:ext cx="170641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Lexend"/>
                <a:ea typeface="Lexend"/>
                <a:cs typeface="Lexend"/>
                <a:sym typeface="Lexend"/>
              </a:rPr>
              <a:t>B.2.2.2 - Análise e Tratamento de Dados</a:t>
            </a:r>
            <a:endParaRPr b="1" sz="242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Motsny,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505" name="Google Shape;505;p34"/>
          <p:cNvPicPr preferRelativeResize="0"/>
          <p:nvPr/>
        </p:nvPicPr>
        <p:blipFill rotWithShape="1">
          <a:blip r:embed="rId3">
            <a:alphaModFix/>
          </a:blip>
          <a:srcRect b="0" l="0" r="7969" t="10112"/>
          <a:stretch/>
        </p:blipFill>
        <p:spPr>
          <a:xfrm>
            <a:off x="7240150" y="292625"/>
            <a:ext cx="1592151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34"/>
          <p:cNvGrpSpPr/>
          <p:nvPr/>
        </p:nvGrpSpPr>
        <p:grpSpPr>
          <a:xfrm rot="-2952550">
            <a:off x="7046990" y="4210842"/>
            <a:ext cx="3314702" cy="851683"/>
            <a:chOff x="2164075" y="3432250"/>
            <a:chExt cx="3314700" cy="851683"/>
          </a:xfrm>
        </p:grpSpPr>
        <p:sp>
          <p:nvSpPr>
            <p:cNvPr id="507" name="Google Shape;507;p34"/>
            <p:cNvSpPr/>
            <p:nvPr/>
          </p:nvSpPr>
          <p:spPr>
            <a:xfrm rot="5400000">
              <a:off x="3749925" y="2128900"/>
              <a:ext cx="129000" cy="2735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08" name="Google Shape;508;p34"/>
            <p:cNvSpPr/>
            <p:nvPr/>
          </p:nvSpPr>
          <p:spPr>
            <a:xfrm rot="5400000">
              <a:off x="3754275" y="2753475"/>
              <a:ext cx="120300" cy="19737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09" name="Google Shape;509;p34"/>
            <p:cNvSpPr/>
            <p:nvPr/>
          </p:nvSpPr>
          <p:spPr>
            <a:xfrm rot="5400000">
              <a:off x="3753675" y="3250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10" name="Google Shape;510;p34"/>
            <p:cNvSpPr/>
            <p:nvPr/>
          </p:nvSpPr>
          <p:spPr>
            <a:xfrm rot="5400000">
              <a:off x="3753675" y="3371933"/>
              <a:ext cx="121500" cy="145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11" name="Google Shape;511;p34"/>
            <p:cNvSpPr/>
            <p:nvPr/>
          </p:nvSpPr>
          <p:spPr>
            <a:xfrm rot="5400000">
              <a:off x="3753675" y="3493433"/>
              <a:ext cx="121500" cy="14595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12" name="Google Shape;512;p34"/>
            <p:cNvSpPr/>
            <p:nvPr/>
          </p:nvSpPr>
          <p:spPr>
            <a:xfrm rot="5400000">
              <a:off x="3764275" y="195902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13" name="Google Shape;513;p34"/>
            <p:cNvSpPr/>
            <p:nvPr/>
          </p:nvSpPr>
          <p:spPr>
            <a:xfrm rot="5400000">
              <a:off x="3764275" y="2199875"/>
              <a:ext cx="114300" cy="331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</p:grpSp>
      <p:sp>
        <p:nvSpPr>
          <p:cNvPr id="514" name="Google Shape;514;p34"/>
          <p:cNvSpPr txBox="1"/>
          <p:nvPr/>
        </p:nvSpPr>
        <p:spPr>
          <a:xfrm>
            <a:off x="8145600" y="4726850"/>
            <a:ext cx="686700" cy="27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MCE </a:t>
            </a:r>
            <a:r>
              <a:rPr b="1" lang="en" sz="11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</a:t>
            </a:r>
            <a:r>
              <a:rPr b="1" lang="en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04‎‎ </a:t>
            </a:r>
            <a:endParaRPr b="1" sz="1200">
              <a:solidFill>
                <a:srgbClr val="A5A5A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515" name="Google Shape;515;p34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516" name="Google Shape;516;p34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517" name="Google Shape;517;p34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518" name="Google Shape;518;p34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519" name="Google Shape;519;p34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20" name="Google Shape;520;p34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6D7A8"/>
                </a:solidFill>
              </a:endParaRPr>
            </a:p>
          </p:txBody>
        </p:sp>
        <p:sp>
          <p:nvSpPr>
            <p:cNvPr id="521" name="Google Shape;521;p34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22" name="Google Shape;522;p34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23" name="Google Shape;523;p34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B6D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MCE - 21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524" name="Google Shape;52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63" y="1013450"/>
            <a:ext cx="578167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100" y="2584048"/>
            <a:ext cx="3102250" cy="5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6300" y="2621857"/>
            <a:ext cx="359982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0625" y="3755208"/>
            <a:ext cx="1592150" cy="37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675" y="3755201"/>
            <a:ext cx="1913242" cy="37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4. Outros detalhes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Teoria de Propagação/Combinação de Erros: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5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536" name="Google Shape;53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7174" y="445025"/>
            <a:ext cx="1555127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35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538" name="Google Shape;538;p35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39" name="Google Shape;539;p35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40" name="Google Shape;540;p35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41" name="Google Shape;541;p35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42" name="Google Shape;542;p35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43" name="Google Shape;543;p35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44" name="Google Shape;544;p35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45" name="Google Shape;545;p35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MCE - 22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pic>
        <p:nvPicPr>
          <p:cNvPr id="546" name="Google Shape;54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04326"/>
            <a:ext cx="6794374" cy="19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. Conclusão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Calibração correta da sonda de Hall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Relação linear entre tensão Vh e campo magnético 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Constante de calibração: Cc ≈ 0.0288 T/V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Validação experimental do Princípio da Sobreposição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6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554" name="Google Shape;5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7174" y="445025"/>
            <a:ext cx="1555127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36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556" name="Google Shape;556;p36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57" name="Google Shape;557;p36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58" name="Google Shape;558;p36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59" name="Google Shape;559;p36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60" name="Google Shape;560;p36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61" name="Google Shape;561;p36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62" name="Google Shape;562;p36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63" name="Google Shape;563;p36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MCE </a:t>
              </a:r>
              <a:r>
                <a:rPr b="1" lang="en" sz="10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23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7. Bibliografia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[1] Serway, R. A</a:t>
            </a:r>
            <a:r>
              <a:rPr lang="en" sz="1200"/>
              <a:t>., Physics for Scientist and Engineers with modern Physics, 2000, Saunder College Publishing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[2] “</a:t>
            </a:r>
            <a:r>
              <a:rPr b="1" lang="en" sz="1200"/>
              <a:t>IADE2015-16”</a:t>
            </a:r>
            <a:r>
              <a:rPr lang="en" sz="1200"/>
              <a:t> - Instrumentação e Análise de Dados Experimentais, Ano letivo de 2015-16 - Departamento de Física, Universidade de Aveiro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As imagens neste documento foram criadas com recurso à inteligencia artificial (Gemini), com a exceção das imagens fotografadas durante a atividade experimental.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A geração dos gráficos envolveram a utilização do Python (Linguagem de Programação de Alto Nivel) com recurso às bibliotecas MathPlotLib e Numpy</a:t>
            </a:r>
            <a:endParaRPr sz="1200"/>
          </a:p>
        </p:txBody>
      </p:sp>
      <p:sp>
        <p:nvSpPr>
          <p:cNvPr id="570" name="Google Shape;570;p37"/>
          <p:cNvSpPr txBox="1"/>
          <p:nvPr/>
        </p:nvSpPr>
        <p:spPr>
          <a:xfrm>
            <a:off x="2454750" y="4645400"/>
            <a:ext cx="4234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Alexandre 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Motsny</a:t>
            </a:r>
            <a:r>
              <a:rPr b="1" lang="en">
                <a:solidFill>
                  <a:srgbClr val="A5A5A9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, Martin Pereirinha, Tiago Pita</a:t>
            </a:r>
            <a:endParaRPr b="1">
              <a:solidFill>
                <a:srgbClr val="A5A5A9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571" name="Google Shape;5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7174" y="445025"/>
            <a:ext cx="1555127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37"/>
          <p:cNvGrpSpPr/>
          <p:nvPr/>
        </p:nvGrpSpPr>
        <p:grpSpPr>
          <a:xfrm>
            <a:off x="7395416" y="3186654"/>
            <a:ext cx="2434148" cy="2741547"/>
            <a:chOff x="7395416" y="3186654"/>
            <a:chExt cx="2434148" cy="2741547"/>
          </a:xfrm>
        </p:grpSpPr>
        <p:sp>
          <p:nvSpPr>
            <p:cNvPr id="573" name="Google Shape;573;p37"/>
            <p:cNvSpPr/>
            <p:nvPr/>
          </p:nvSpPr>
          <p:spPr>
            <a:xfrm rot="2445608">
              <a:off x="8361771" y="3038124"/>
              <a:ext cx="129118" cy="2735616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74" name="Google Shape;574;p37"/>
            <p:cNvSpPr/>
            <p:nvPr/>
          </p:nvSpPr>
          <p:spPr>
            <a:xfrm rot="2445369">
              <a:off x="8550478" y="3578207"/>
              <a:ext cx="120397" cy="1973698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75" name="Google Shape;575;p37"/>
            <p:cNvSpPr/>
            <p:nvPr/>
          </p:nvSpPr>
          <p:spPr>
            <a:xfrm rot="2448030">
              <a:off x="8731473" y="3992076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76" name="Google Shape;576;p37"/>
            <p:cNvSpPr/>
            <p:nvPr/>
          </p:nvSpPr>
          <p:spPr>
            <a:xfrm rot="2448030">
              <a:off x="8823460" y="4071452"/>
              <a:ext cx="121666" cy="145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77" name="Google Shape;577;p37"/>
            <p:cNvSpPr/>
            <p:nvPr/>
          </p:nvSpPr>
          <p:spPr>
            <a:xfrm rot="2448030">
              <a:off x="8915448" y="4150828"/>
              <a:ext cx="121666" cy="1459375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7E6B"/>
                </a:solidFill>
              </a:endParaRPr>
            </a:p>
          </p:txBody>
        </p:sp>
        <p:sp>
          <p:nvSpPr>
            <p:cNvPr id="578" name="Google Shape;578;p37"/>
            <p:cNvSpPr/>
            <p:nvPr/>
          </p:nvSpPr>
          <p:spPr>
            <a:xfrm rot="2450769">
              <a:off x="8464209" y="2821456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79" name="Google Shape;579;p37"/>
            <p:cNvSpPr/>
            <p:nvPr/>
          </p:nvSpPr>
          <p:spPr>
            <a:xfrm rot="2450769">
              <a:off x="8646556" y="2978804"/>
              <a:ext cx="114215" cy="33145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580" name="Google Shape;580;p37"/>
            <p:cNvSpPr txBox="1"/>
            <p:nvPr/>
          </p:nvSpPr>
          <p:spPr>
            <a:xfrm>
              <a:off x="8145600" y="4726850"/>
              <a:ext cx="686700" cy="270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MCE </a:t>
              </a:r>
              <a:r>
                <a:rPr b="1" lang="en" sz="11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-</a:t>
              </a:r>
              <a:r>
                <a:rPr b="1" lang="en" sz="1200">
                  <a:solidFill>
                    <a:srgbClr val="A5A5A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24</a:t>
              </a:r>
              <a:endParaRPr b="1" sz="1200">
                <a:solidFill>
                  <a:srgbClr val="A5A5A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